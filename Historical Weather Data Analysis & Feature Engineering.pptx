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DM Sans" panose="020F0502020204030204" pitchFamily="2" charset="0"/>
      <p:bold r:id="rId14"/>
    </p:embeddedFont>
    <p:embeddedFont>
      <p:font typeface="IBM Plex Mono" panose="020F0502020204030204" pitchFamily="49" charset="0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448175"/>
            <a:ext cx="6858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48050" y="4938712"/>
            <a:ext cx="9525" cy="3429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1504950"/>
            <a:ext cx="10763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IBM Plex Mono"/>
              </a:rPr>
              <a:t>PYTHON JUPYTER NOTEBOOK PROJECT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933575"/>
            <a:ext cx="9901237" cy="1352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50" b="1" i="0" u="none">
                <a:solidFill>
                  <a:srgbClr val="FFFFFF"/>
                </a:solidFill>
                <a:latin typeface="DM Sans"/>
              </a:rPr>
              <a:t>Historical Weather Data Analysis &amp; Feature Engineering Using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514725"/>
            <a:ext cx="75247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94A3B8"/>
                </a:solidFill>
                <a:latin typeface="DM Sans"/>
              </a:rPr>
              <a:t>Transforming 96,453 raw meteorological records into clean insights for business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867275"/>
            <a:ext cx="27860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DM Sans"/>
              </a:rPr>
              <a:t>Anurag Kumar Poddar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153025"/>
            <a:ext cx="2786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DM Sans"/>
              </a:rPr>
              <a:t>Data Analyst / Business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4775" y="4900612"/>
            <a:ext cx="3214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BM Plex Mono"/>
              </a:rPr>
              <a:t>+91 9748748405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4775" y="5129212"/>
            <a:ext cx="3214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BM Plex Mono"/>
              </a:rPr>
              <a:t>anuragkumarpoddar@gmail.com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81312"/>
            <a:ext cx="3479750" cy="2066925"/>
          </a:xfrm>
          <a:prstGeom prst="roundRect">
            <a:avLst>
              <a:gd name="adj" fmla="val 55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56050" y="2881312"/>
            <a:ext cx="3479750" cy="2066925"/>
          </a:xfrm>
          <a:prstGeom prst="roundRect">
            <a:avLst>
              <a:gd name="adj" fmla="val 55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02500" y="2881312"/>
            <a:ext cx="3479750" cy="2066925"/>
          </a:xfrm>
          <a:prstGeom prst="roundRect">
            <a:avLst>
              <a:gd name="adj" fmla="val 55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224212"/>
            <a:ext cx="294635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3224212"/>
            <a:ext cx="294635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200" y="3224212"/>
            <a:ext cx="294635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068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BM Plex Mono"/>
              </a:rPr>
              <a:t>01 / 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52475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DM Sans"/>
              </a:rPr>
              <a:t>Project Objectives &amp;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719512"/>
            <a:ext cx="3867084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DM Sans"/>
              </a:rPr>
              <a:t>Data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129087"/>
            <a:ext cx="30416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475569"/>
                </a:solidFill>
                <a:latin typeface="DM Sans"/>
              </a:rPr>
              <a:t>Fix missing sensor logs immediately.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2750" y="3719512"/>
            <a:ext cx="3867084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DM Sans"/>
              </a:rPr>
              <a:t>Exploratory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2750" y="4129087"/>
            <a:ext cx="30416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475569"/>
                </a:solidFill>
                <a:latin typeface="DM Sans"/>
              </a:rPr>
              <a:t>Uncover ten-year seasonal weather trends.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9200" y="3719512"/>
            <a:ext cx="3822799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DM Sans"/>
              </a:rPr>
              <a:t>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9200" y="4129087"/>
            <a:ext cx="30416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475569"/>
                </a:solidFill>
                <a:latin typeface="DM Sans"/>
              </a:rPr>
              <a:t>Build predictive variables for forecasting.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068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BM Plex Mono"/>
              </a:rPr>
              <a:t>02 / DATASET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52475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DM Sans"/>
              </a:rPr>
              <a:t>Dataset Scale &amp;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576762"/>
            <a:ext cx="107156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DM Sans"/>
              </a:rPr>
              <a:t>Processed in Jupyter Notebook using Python 3, Pandas, NumPy, Matplotlib, and Seaborn.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05137"/>
            <a:ext cx="3429000" cy="790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800" b="1" i="0" u="none">
                <a:solidFill>
                  <a:srgbClr val="0284C7"/>
                </a:solidFill>
                <a:latin typeface="DM Sans"/>
              </a:rPr>
              <a:t>96,453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871912"/>
            <a:ext cx="3429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75569"/>
                </a:solidFill>
                <a:latin typeface="DM Sans"/>
              </a:rPr>
              <a:t>Raw Hourly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2800" y="3005137"/>
            <a:ext cx="3429000" cy="790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800" b="1" i="0" u="none">
                <a:solidFill>
                  <a:srgbClr val="0F172A"/>
                </a:solidFill>
                <a:latin typeface="DM Sans"/>
              </a:rPr>
              <a:t>10 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800" y="3871912"/>
            <a:ext cx="3429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75569"/>
                </a:solidFill>
                <a:latin typeface="DM Sans"/>
              </a:rPr>
              <a:t>2006 to 2016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3005137"/>
            <a:ext cx="3429000" cy="790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800" b="1" i="0" u="none">
                <a:solidFill>
                  <a:srgbClr val="EA580C"/>
                </a:solidFill>
                <a:latin typeface="DM Sans"/>
              </a:rPr>
              <a:t>12 →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3871912"/>
            <a:ext cx="3429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75569"/>
                </a:solidFill>
                <a:latin typeface="DM Sans"/>
              </a:rPr>
              <a:t>Expanded Feature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39200" y="3005137"/>
            <a:ext cx="3352800" cy="790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800" b="1" i="0" u="none">
                <a:solidFill>
                  <a:srgbClr val="0284C7"/>
                </a:solidFill>
                <a:latin typeface="DM Sans"/>
              </a:rPr>
              <a:t>96,429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9200" y="3871912"/>
            <a:ext cx="33528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75569"/>
                </a:solidFill>
                <a:latin typeface="DM Sans"/>
              </a:rPr>
              <a:t>Clean Validated Rows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33712"/>
            <a:ext cx="2357437" cy="1762125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81387" y="2895600"/>
            <a:ext cx="2357437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53175" y="3033712"/>
            <a:ext cx="2357437" cy="1762125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24962" y="3033712"/>
            <a:ext cx="2357437" cy="1762125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537" y="3810000"/>
            <a:ext cx="13335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25" y="3810000"/>
            <a:ext cx="13335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112" y="3810000"/>
            <a:ext cx="133350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068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BM Plex Mono"/>
              </a:rPr>
              <a:t>03 / DATA CLEANING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52475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DM Sans"/>
              </a:rPr>
              <a:t>Data Cleaning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300412"/>
            <a:ext cx="203358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IBM Plex Mono"/>
              </a:rP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700462"/>
            <a:ext cx="254406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DM Sans"/>
              </a:rPr>
              <a:t>Rename 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4071937"/>
            <a:ext cx="20335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Fixed typo Loud Cover to Cloud Cover.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0937" y="3162300"/>
            <a:ext cx="203358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IBM Plex Mono"/>
              </a:rPr>
              <a:t>STEP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0937" y="3562350"/>
            <a:ext cx="2135266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DM Sans"/>
              </a:rPr>
              <a:t>UTC Standardization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0937" y="4210050"/>
            <a:ext cx="20335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Parsed text dates into UTC timestamps.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300412"/>
            <a:ext cx="203358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IBM Plex Mono"/>
              </a:rPr>
              <a:t>STEP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3700462"/>
            <a:ext cx="254406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DM Sans"/>
              </a:rPr>
              <a:t>Mode Imputation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4071937"/>
            <a:ext cx="20335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Filled 517 missing Precip Type rows.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4512" y="3300412"/>
            <a:ext cx="203358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A580C"/>
                </a:solidFill>
                <a:latin typeface="IBM Plex Mono"/>
              </a:rPr>
              <a:t>STEP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4512" y="3700462"/>
            <a:ext cx="254406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DM Sans"/>
              </a:rPr>
              <a:t>Deduplication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4512" y="4071937"/>
            <a:ext cx="20335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Removed 24 duplicate hourly weather rows.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86012"/>
            <a:ext cx="5295900" cy="3057525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2386012"/>
            <a:ext cx="5295900" cy="3057525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068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BM Plex Mono"/>
              </a:rPr>
              <a:t>04 /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52475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DM Sans"/>
              </a:rPr>
              <a:t>Feature Engineering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728912"/>
            <a:ext cx="6050756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4748B"/>
                </a:solidFill>
                <a:latin typeface="DM Sans"/>
              </a:rPr>
              <a:t>Raw Dataset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728912"/>
            <a:ext cx="55626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284C7"/>
                </a:solidFill>
                <a:latin typeface="DM Sans"/>
              </a:rPr>
              <a:t>Engineered Python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425" y="318611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3214687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DM Sans"/>
              </a:rPr>
              <a:t>Unformatted Text:</a:t>
            </a:r>
            <a:r>
              <a:rPr sz="1500" b="0" i="0" u="none">
                <a:solidFill>
                  <a:srgbClr val="334155"/>
                </a:solidFill>
                <a:latin typeface="DM Sans"/>
              </a:rPr>
              <a:t> Mixed timezone string timestamps.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81476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1100" y="3843337"/>
            <a:ext cx="5476875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DM Sans"/>
              </a:rPr>
              <a:t>No Seasonality:</a:t>
            </a:r>
            <a:r>
              <a:rPr sz="1500" b="0" i="0" u="none">
                <a:solidFill>
                  <a:srgbClr val="334155"/>
                </a:solidFill>
                <a:latin typeface="DM Sans"/>
              </a:rPr>
              <a:t> Hidden monthly weather cycles.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419576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1100" y="4224337"/>
            <a:ext cx="5476875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DM Sans"/>
              </a:rPr>
              <a:t>Null Entries:</a:t>
            </a:r>
            <a:r>
              <a:rPr sz="1500" b="0" i="0" u="none">
                <a:solidFill>
                  <a:srgbClr val="334155"/>
                </a:solidFill>
                <a:latin typeface="DM Sans"/>
              </a:rPr>
              <a:t> 517 missing precipitation labels.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457676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100" y="4605337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DM Sans"/>
              </a:rPr>
              <a:t>Zero Anomalies:</a:t>
            </a:r>
            <a:r>
              <a:rPr sz="1500" b="0" i="0" u="none">
                <a:solidFill>
                  <a:srgbClr val="334155"/>
                </a:solidFill>
                <a:latin typeface="DM Sans"/>
              </a:rPr>
              <a:t> Unflagged 0.0 mb pressure readings.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25" y="318611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214687"/>
            <a:ext cx="53340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Time Extraction:</a:t>
            </a:r>
            <a:r>
              <a:rPr sz="1500" b="0" i="0" u="none">
                <a:solidFill>
                  <a:srgbClr val="0F172A"/>
                </a:solidFill>
                <a:latin typeface="DM Sans"/>
              </a:rPr>
              <a:t> Created Year, Month, Day, Hour.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356711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DM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595687"/>
            <a:ext cx="5334000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Local Timezone:</a:t>
            </a:r>
            <a:r>
              <a:rPr sz="1500" b="0" i="0" u="none">
                <a:solidFill>
                  <a:srgbClr val="0F172A"/>
                </a:solidFill>
                <a:latin typeface="DM Sans"/>
              </a:rPr>
              <a:t> Converted UTC to Asia/Kolkata.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1325" y="394811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DM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976687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Thermal Gap:</a:t>
            </a:r>
            <a:r>
              <a:rPr sz="1500" b="0" i="0" u="none">
                <a:solidFill>
                  <a:srgbClr val="0F172A"/>
                </a:solidFill>
                <a:latin typeface="DM Sans"/>
              </a:rPr>
              <a:t> Compared Actual vs Apparent Temp.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1325" y="4576762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DM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605337"/>
            <a:ext cx="44767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Clean Target:</a:t>
            </a:r>
            <a:r>
              <a:rPr sz="1500" b="0" i="0" u="none">
                <a:solidFill>
                  <a:srgbClr val="0F172A"/>
                </a:solidFill>
                <a:latin typeface="DM Sans"/>
              </a:rPr>
              <a:t> 100% complete precipitation classes.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28775"/>
            <a:ext cx="6803082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068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BM Plex Mono"/>
              </a:rPr>
              <a:t>05 / WEATHER CONDITION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52475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DM Sans"/>
              </a:rPr>
              <a:t>Dominant Weather Summaries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607" y="26384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2282" y="2667000"/>
            <a:ext cx="3655367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Partly Cloudy Leads: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31,726 total observations (32.9%).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607" y="33051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22282" y="3333750"/>
            <a:ext cx="3655367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Mostly Cloudy Second: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28,094 logged hours (29.1%).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607" y="39719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2282" y="4000500"/>
            <a:ext cx="3655367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Overcast &amp; Clear: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Account for 28.5% combined.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607" y="46386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2282" y="4667250"/>
            <a:ext cx="3655367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Foggy Conditions: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7,148 low-visibility hours (7.4%).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419" y="1628775"/>
            <a:ext cx="603498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068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BM Plex Mono"/>
              </a:rPr>
              <a:t>06 / PRECIPITATION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52475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DM Sans"/>
              </a:rPr>
              <a:t>Precipitation Type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300990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038475"/>
            <a:ext cx="5410274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Rain Dominance: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85,717 total records (88.9%).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42900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457575"/>
            <a:ext cx="5410274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Winter Snowfall: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10,712 sub-zero records (11.1%).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84810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876675"/>
            <a:ext cx="4423469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Mode Imputation: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517 missing values filled with rain.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4514850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543425"/>
            <a:ext cx="5410274" cy="24765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Forecast Readiness: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Zero null values remaining.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28775"/>
            <a:ext cx="10972800" cy="409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068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BM Plex Mono"/>
              </a:rPr>
              <a:t>07 / THERMAL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52475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DM Sans"/>
              </a:rPr>
              <a:t>Actual vs. Apparent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5362" y="5876925"/>
            <a:ext cx="1119663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DM Sans"/>
              </a:rPr>
              <a:t>Actual mean temperature is 11.9°C (-21.8°C to 39.9°C); wind chill lowers mean apparent temperature to 10.9°C.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28775"/>
            <a:ext cx="6803082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068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BM Plex Mono"/>
              </a:rPr>
              <a:t>08 / SEASONAL CYCLES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52475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DM Sans"/>
              </a:rPr>
              <a:t>Monthly Temperature vs. Humidity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17507" y="26384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4182" y="2667000"/>
            <a:ext cx="3693467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Summer Peak: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July averages 22.9°C with 64% humidity.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17507" y="33051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4182" y="3333750"/>
            <a:ext cx="3693467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Winter Trough: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January averages 0.8°C with 85% humidity.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17507" y="39719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4182" y="4000500"/>
            <a:ext cx="3693467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Mirror Pattern: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Humidity drops sharply during summer warming.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7507" y="46386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4182" y="4667250"/>
            <a:ext cx="3693467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Winter Chill: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Apparent temp drops 2.5°C below actual.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043112"/>
          <a:ext cx="10972797" cy="3743325"/>
        </p:xfrm>
        <a:graphic>
          <a:graphicData uri="http://schemas.openxmlformats.org/drawingml/2006/table">
            <a:tbl>
              <a:tblPr/>
              <a:tblGrid>
                <a:gridCol w="2420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7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5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1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8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4760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FFFFFF"/>
                          </a:solidFill>
                          <a:latin typeface="DM Sans"/>
                        </a:rPr>
                        <a:t>Weather Variable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FFFFFF"/>
                          </a:solidFill>
                          <a:latin typeface="DM Sans"/>
                        </a:rPr>
                        <a:t>Mean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FFFFFF"/>
                          </a:solidFill>
                          <a:latin typeface="DM Sans"/>
                        </a:rPr>
                        <a:t>Std Dev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FFFFFF"/>
                          </a:solidFill>
                          <a:latin typeface="DM Sans"/>
                        </a:rPr>
                        <a:t>Min 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FFFFFF"/>
                          </a:solidFill>
                          <a:latin typeface="DM Sans"/>
                        </a:rPr>
                        <a:t>Median (50%)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FFFFFF"/>
                          </a:solidFill>
                          <a:latin typeface="DM Sans"/>
                        </a:rPr>
                        <a:t>Max 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760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F172A"/>
                          </a:solidFill>
                          <a:latin typeface="DM Sans"/>
                        </a:rPr>
                        <a:t>Temperature (°C)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11.93 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9.55 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284C7"/>
                          </a:solidFill>
                          <a:latin typeface="DM Sans"/>
                        </a:rPr>
                        <a:t>-21.82 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12.00 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EA580C"/>
                          </a:solidFill>
                          <a:latin typeface="DM Sans"/>
                        </a:rPr>
                        <a:t>39.91 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760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F172A"/>
                          </a:solidFill>
                          <a:latin typeface="DM Sans"/>
                        </a:rPr>
                        <a:t>Apparent Temp (°C)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10.85 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10.70 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284C7"/>
                          </a:solidFill>
                          <a:latin typeface="DM Sans"/>
                        </a:rPr>
                        <a:t>-27.72 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12.00 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EA580C"/>
                          </a:solidFill>
                          <a:latin typeface="DM Sans"/>
                        </a:rPr>
                        <a:t>39.34 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760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F172A"/>
                          </a:solidFill>
                          <a:latin typeface="DM Sans"/>
                        </a:rPr>
                        <a:t>Relative Humidity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0.73 (73.5%)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0.20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0.00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0.78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1.00 (100%)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760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F172A"/>
                          </a:solidFill>
                          <a:latin typeface="DM Sans"/>
                        </a:rPr>
                        <a:t>Wind Speed (km/h)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10.81 km/h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6.91 km/h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0.00 km/h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9.97 km/h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EA580C"/>
                          </a:solidFill>
                          <a:latin typeface="DM Sans"/>
                        </a:rPr>
                        <a:t>63.85 km/h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760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F172A"/>
                          </a:solidFill>
                          <a:latin typeface="DM Sans"/>
                        </a:rPr>
                        <a:t>Visibility (km)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10.35 km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4.19 km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0.00 km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10.05 km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16.10 km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765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0F172A"/>
                          </a:solidFill>
                          <a:latin typeface="DM Sans"/>
                        </a:rPr>
                        <a:t>Pressure (millibars)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1003.23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116.98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0.00 mb (Sensor)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1016.45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DM Sans"/>
                        </a:rPr>
                        <a:t>1046.38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068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BM Plex Mono"/>
              </a:rPr>
              <a:t>09 / DESCRIPTIVE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52475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DM Sans"/>
              </a:rPr>
              <a:t>Meteorological Parameter 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28775"/>
            <a:ext cx="603498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068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BM Plex Mono"/>
              </a:rPr>
              <a:t>10 / CORRELATIONS &amp;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52475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DM Sans"/>
              </a:rPr>
              <a:t>Correlation Matrix &amp; 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87505" y="26384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54180" y="2667000"/>
            <a:ext cx="4423469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Strong Thermal Link: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Temp and Apparent Temp correlate at r = 0.99.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7505" y="33051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54180" y="3333750"/>
            <a:ext cx="4423469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Inverse Humidity: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Temp and Humidity correlate at r = -0.63.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87505" y="397192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54180" y="4000500"/>
            <a:ext cx="4423469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Energy Grids: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Predict winter heating and summer cooling spikes.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505" y="46386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4180" y="4667250"/>
            <a:ext cx="4423469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Logistics &amp; Retail: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Plan around low-visibility fog and seasonal rain.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3414712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58382" y="1633537"/>
            <a:ext cx="1875234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38BDF8"/>
                </a:solidFill>
                <a:latin typeface="IBM Plex Mono"/>
              </a:rPr>
              <a:t>THANK YOU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8095" y="2024062"/>
            <a:ext cx="647580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DM Sans"/>
              </a:rPr>
              <a:t>Anurag Kumar Poddar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88593" y="2776537"/>
            <a:ext cx="421481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38BDF8"/>
                </a:solidFill>
                <a:latin typeface="DM Sans"/>
              </a:rPr>
              <a:t>Data Analyst / Business Analyst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0796" y="3795712"/>
            <a:ext cx="325040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F8FAFC"/>
                </a:solidFill>
                <a:latin typeface="IBM Plex Mono"/>
              </a:rPr>
              <a:t>Phone: +91 9748748405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64718" y="4186237"/>
            <a:ext cx="526256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F8FAFC"/>
                </a:solidFill>
                <a:latin typeface="IBM Plex Mono"/>
              </a:rPr>
              <a:t>Email: anuragkumarpoddar@gmail.com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7875" y="4767262"/>
            <a:ext cx="8096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94A3B8"/>
                </a:solidFill>
                <a:latin typeface="DM Sans"/>
              </a:rPr>
              <a:t>Skills: Python (Pandas, NumPy, Matplotlib, Seaborn) • Jupyter Notebook • SQL • Power BI • Feature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705</Words>
  <Application>Microsoft Office PowerPoint</Application>
  <PresentationFormat>Widescreen</PresentationFormat>
  <Paragraphs>153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IBM Plex Mono</vt:lpstr>
      <vt:lpstr>Calibri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ANURAG PODDAR</cp:lastModifiedBy>
  <cp:revision>1</cp:revision>
  <dcterms:created xsi:type="dcterms:W3CDTF">2013-01-27T09:14:16Z</dcterms:created>
  <dcterms:modified xsi:type="dcterms:W3CDTF">2026-10-22T19:08:56Z</dcterms:modified>
  <cp:category/>
</cp:coreProperties>
</file>